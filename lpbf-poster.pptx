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al" id="{5BEABCAE-DCA5-43A2-9BC0-2BE06D3CD377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155E29-EFD0-65DF-400B-D19F20211486}" name="Vallabh, Chaitanya Krishna P" initials="VP" userId="S::cpv8@pitt.edu::63c501d9-ba46-489e-beac-40bb40e5ab94" providerId="AD"/>
  <p188:author id="{14614533-115D-AC3B-36A0-CF9EDC273D53}" name="Vallabh, Chaitanya Krishna P" initials="VCKP" userId="S-1-5-21-2361984597-2039549782-3180204118-1275461" providerId="AD"/>
  <p188:author id="{B3C864CB-1C78-62BC-8351-114778CAAF02}" name="Zhang, Haolin" initials="ZH" userId="S::HAZ136@pitt.edu::f2c38229-b547-48c9-98b7-c8bb68463a76" providerId="AD"/>
  <p188:author id="{8D93F4E5-C56F-01B1-E304-419692C5D08D}" name="Zhao, Xiayun" initials="ZX" userId="S::XIZ189@pitt.edu::b2c4717c-6940-4fd1-877e-76c65ca35ae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llabh, Chaitanya Krishna P" initials="VCKP" lastIdx="4" clrIdx="0">
    <p:extLst>
      <p:ext uri="{19B8F6BF-5375-455C-9EA6-DF929625EA0E}">
        <p15:presenceInfo xmlns:p15="http://schemas.microsoft.com/office/powerpoint/2012/main" userId="S-1-5-21-2361984597-2039549782-3180204118-12754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2118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2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1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2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7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9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1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1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7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2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0A350-DFE2-4E94-829A-6DB3713B9397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783D-C632-470F-8531-FC0879FC7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2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image" Target="../media/image12.jpeg"/><Relationship Id="rId26" Type="http://schemas.openxmlformats.org/officeDocument/2006/relationships/image" Target="../media/image20.png"/><Relationship Id="rId39" Type="http://schemas.openxmlformats.org/officeDocument/2006/relationships/image" Target="../media/image32.png"/><Relationship Id="rId21" Type="http://schemas.openxmlformats.org/officeDocument/2006/relationships/image" Target="../media/image15.jpeg"/><Relationship Id="rId34" Type="http://schemas.openxmlformats.org/officeDocument/2006/relationships/image" Target="../media/image27.png"/><Relationship Id="rId42" Type="http://schemas.openxmlformats.org/officeDocument/2006/relationships/image" Target="../media/image35.png"/><Relationship Id="rId47" Type="http://schemas.openxmlformats.org/officeDocument/2006/relationships/image" Target="../media/image40.jpeg"/><Relationship Id="rId50" Type="http://schemas.openxmlformats.org/officeDocument/2006/relationships/image" Target="../media/image43.png"/><Relationship Id="rId55" Type="http://schemas.openxmlformats.org/officeDocument/2006/relationships/image" Target="../media/image48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6" Type="http://schemas.openxmlformats.org/officeDocument/2006/relationships/hyperlink" Target="http://www.google.com/url?sa=i&amp;rct=j&amp;q=&amp;source=images&amp;cd=&amp;cad=rja&amp;docid=O7yvapZAFFoXzM&amp;tbnid=PoXQ4GjK2sVdaM:&amp;ved=0CAUQjRw&amp;url=http://www.cs.gsu.edu/~tcpp/curriculum/?q=home&amp;ei=B9PBUd_GHueM0QHbyoG4CA&amp;bvm=bv.47883778,d.dmg&amp;psig=AFQjCNFyo679i1lmKRK_G_DJAKAWEGE4ow&amp;ust=1371743365525688" TargetMode="External"/><Relationship Id="rId29" Type="http://schemas.openxmlformats.org/officeDocument/2006/relationships/image" Target="../media/image22.png"/><Relationship Id="rId11" Type="http://schemas.openxmlformats.org/officeDocument/2006/relationships/image" Target="../media/image6.png"/><Relationship Id="rId24" Type="http://schemas.openxmlformats.org/officeDocument/2006/relationships/image" Target="../media/image18.png"/><Relationship Id="rId32" Type="http://schemas.openxmlformats.org/officeDocument/2006/relationships/image" Target="../media/image25.png"/><Relationship Id="rId37" Type="http://schemas.openxmlformats.org/officeDocument/2006/relationships/image" Target="../media/image30.png"/><Relationship Id="rId40" Type="http://schemas.openxmlformats.org/officeDocument/2006/relationships/image" Target="../media/image33.png"/><Relationship Id="rId45" Type="http://schemas.openxmlformats.org/officeDocument/2006/relationships/image" Target="../media/image38.png"/><Relationship Id="rId58" Type="http://schemas.openxmlformats.org/officeDocument/2006/relationships/image" Target="../media/image49.png"/><Relationship Id="rId5" Type="http://schemas.openxmlformats.org/officeDocument/2006/relationships/image" Target="../media/image1.wmf"/><Relationship Id="rId10" Type="http://schemas.openxmlformats.org/officeDocument/2006/relationships/image" Target="../media/image5.png"/><Relationship Id="rId19" Type="http://schemas.openxmlformats.org/officeDocument/2006/relationships/image" Target="../media/image13.jpeg"/><Relationship Id="rId31" Type="http://schemas.openxmlformats.org/officeDocument/2006/relationships/image" Target="../media/image24.png"/><Relationship Id="rId44" Type="http://schemas.openxmlformats.org/officeDocument/2006/relationships/image" Target="../media/image37.png"/><Relationship Id="rId52" Type="http://schemas.openxmlformats.org/officeDocument/2006/relationships/image" Target="../media/image4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image" Target="../media/image9.png"/><Relationship Id="rId22" Type="http://schemas.openxmlformats.org/officeDocument/2006/relationships/image" Target="../media/image16.jpeg"/><Relationship Id="rId27" Type="http://schemas.openxmlformats.org/officeDocument/2006/relationships/image" Target="../media/image21.png"/><Relationship Id="rId30" Type="http://schemas.openxmlformats.org/officeDocument/2006/relationships/image" Target="../media/image23.png"/><Relationship Id="rId35" Type="http://schemas.openxmlformats.org/officeDocument/2006/relationships/image" Target="../media/image28.png"/><Relationship Id="rId43" Type="http://schemas.openxmlformats.org/officeDocument/2006/relationships/image" Target="../media/image36.png"/><Relationship Id="rId48" Type="http://schemas.openxmlformats.org/officeDocument/2006/relationships/image" Target="../media/image41.png"/><Relationship Id="rId56" Type="http://schemas.openxmlformats.org/officeDocument/2006/relationships/image" Target="../media/image46.png"/><Relationship Id="rId8" Type="http://schemas.openxmlformats.org/officeDocument/2006/relationships/oleObject" Target="../embeddings/oleObject3.bin"/><Relationship Id="rId51" Type="http://schemas.openxmlformats.org/officeDocument/2006/relationships/image" Target="../media/image44.png"/><Relationship Id="rId3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image" Target="../media/image11.jpeg"/><Relationship Id="rId25" Type="http://schemas.openxmlformats.org/officeDocument/2006/relationships/image" Target="../media/image19.png"/><Relationship Id="rId33" Type="http://schemas.openxmlformats.org/officeDocument/2006/relationships/image" Target="../media/image26.png"/><Relationship Id="rId38" Type="http://schemas.openxmlformats.org/officeDocument/2006/relationships/image" Target="../media/image31.png"/><Relationship Id="rId46" Type="http://schemas.openxmlformats.org/officeDocument/2006/relationships/image" Target="../media/image39.jpeg"/><Relationship Id="rId59" Type="http://schemas.openxmlformats.org/officeDocument/2006/relationships/image" Target="../media/image50.png"/><Relationship Id="rId20" Type="http://schemas.openxmlformats.org/officeDocument/2006/relationships/image" Target="../media/image14.jpeg"/><Relationship Id="rId41" Type="http://schemas.openxmlformats.org/officeDocument/2006/relationships/image" Target="../media/image34.tif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10.jpeg"/><Relationship Id="rId23" Type="http://schemas.openxmlformats.org/officeDocument/2006/relationships/image" Target="../media/image17.png"/><Relationship Id="rId36" Type="http://schemas.openxmlformats.org/officeDocument/2006/relationships/image" Target="../media/image29.png"/><Relationship Id="rId49" Type="http://schemas.openxmlformats.org/officeDocument/2006/relationships/image" Target="../media/image42.png"/><Relationship Id="rId5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ACB7631B-4962-DDCF-FE27-B3C90D7D554E}"/>
              </a:ext>
            </a:extLst>
          </p:cNvPr>
          <p:cNvSpPr/>
          <p:nvPr/>
        </p:nvSpPr>
        <p:spPr>
          <a:xfrm>
            <a:off x="18687284" y="24778925"/>
            <a:ext cx="13481747" cy="312456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26ECF-AF3C-C904-B516-8AE2314B2CB8}"/>
              </a:ext>
            </a:extLst>
          </p:cNvPr>
          <p:cNvSpPr/>
          <p:nvPr/>
        </p:nvSpPr>
        <p:spPr>
          <a:xfrm>
            <a:off x="385011" y="96253"/>
            <a:ext cx="32148379" cy="5021303"/>
          </a:xfrm>
          <a:prstGeom prst="rect">
            <a:avLst/>
          </a:prstGeom>
          <a:solidFill>
            <a:srgbClr val="002A5C"/>
          </a:solidFill>
          <a:ln w="127000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78BE1-E350-E4EA-C121-0F6BA93BC980}"/>
              </a:ext>
            </a:extLst>
          </p:cNvPr>
          <p:cNvSpPr/>
          <p:nvPr/>
        </p:nvSpPr>
        <p:spPr>
          <a:xfrm>
            <a:off x="385011" y="5564973"/>
            <a:ext cx="32148379" cy="6350237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274320" rtlCol="0" anchor="ctr"/>
          <a:lstStyle/>
          <a:p>
            <a:pPr marL="91454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91454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91454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AA819-1D7C-EEE9-32AF-18F346B8CD8F}"/>
              </a:ext>
            </a:extLst>
          </p:cNvPr>
          <p:cNvSpPr/>
          <p:nvPr/>
        </p:nvSpPr>
        <p:spPr>
          <a:xfrm>
            <a:off x="401909" y="12162899"/>
            <a:ext cx="15961038" cy="6582304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C94B3-7CC5-B8CF-6072-BD8746838697}"/>
              </a:ext>
            </a:extLst>
          </p:cNvPr>
          <p:cNvSpPr txBox="1"/>
          <p:nvPr/>
        </p:nvSpPr>
        <p:spPr>
          <a:xfrm>
            <a:off x="6421446" y="322466"/>
            <a:ext cx="20483928" cy="37856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Enhancing Fringe Projection Profilometry for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in-situ Monitoring of LPBF Additive Manufacturing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0" b="1" dirty="0">
              <a:solidFill>
                <a:srgbClr val="FFBB1A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Haolin Zhang, Chaitanya Krishna Vallabh, and Xiayun Zhao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EC401-55CF-D531-BA41-31A0AA4C6BF8}"/>
              </a:ext>
            </a:extLst>
          </p:cNvPr>
          <p:cNvSpPr/>
          <p:nvPr/>
        </p:nvSpPr>
        <p:spPr>
          <a:xfrm>
            <a:off x="449547" y="28604983"/>
            <a:ext cx="21847378" cy="12598504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F49A04-7F3F-74B4-9FC8-9125FE7D501B}"/>
              </a:ext>
            </a:extLst>
          </p:cNvPr>
          <p:cNvSpPr/>
          <p:nvPr/>
        </p:nvSpPr>
        <p:spPr>
          <a:xfrm>
            <a:off x="449277" y="28604984"/>
            <a:ext cx="21879959" cy="1207008"/>
          </a:xfrm>
          <a:prstGeom prst="rect">
            <a:avLst/>
          </a:prstGeom>
          <a:solidFill>
            <a:srgbClr val="002A5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Experimental case study and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E6EE86-989C-B5D1-28C6-91CE8BA071FE}"/>
              </a:ext>
            </a:extLst>
          </p:cNvPr>
          <p:cNvSpPr/>
          <p:nvPr/>
        </p:nvSpPr>
        <p:spPr>
          <a:xfrm>
            <a:off x="449277" y="41492258"/>
            <a:ext cx="32054818" cy="2302689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254724-66F3-1CF7-C331-E89CBE69E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17" t="43410" r="55307" b="44845"/>
          <a:stretch/>
        </p:blipFill>
        <p:spPr>
          <a:xfrm>
            <a:off x="489796" y="517213"/>
            <a:ext cx="5760720" cy="221566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26F13C-4BE0-6BE5-1DBA-9B8AA62E242E}"/>
              </a:ext>
            </a:extLst>
          </p:cNvPr>
          <p:cNvCxnSpPr/>
          <p:nvPr/>
        </p:nvCxnSpPr>
        <p:spPr>
          <a:xfrm>
            <a:off x="6354508" y="517213"/>
            <a:ext cx="0" cy="424815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C8CC4-C78F-2B94-F8F6-7E103A99AE69}"/>
              </a:ext>
            </a:extLst>
          </p:cNvPr>
          <p:cNvSpPr/>
          <p:nvPr/>
        </p:nvSpPr>
        <p:spPr>
          <a:xfrm>
            <a:off x="22491650" y="28588354"/>
            <a:ext cx="10019068" cy="12615136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95E716-5E0C-316C-1414-DE948B5CFC9E}"/>
              </a:ext>
            </a:extLst>
          </p:cNvPr>
          <p:cNvSpPr/>
          <p:nvPr/>
        </p:nvSpPr>
        <p:spPr>
          <a:xfrm>
            <a:off x="478217" y="12203978"/>
            <a:ext cx="15915251" cy="1381260"/>
          </a:xfrm>
          <a:prstGeom prst="rect">
            <a:avLst/>
          </a:prstGeom>
          <a:solidFill>
            <a:srgbClr val="002A5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Fringe Projection Profilometry (FPP)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79488B-CFC0-65ED-6AA2-E502007C041A}"/>
              </a:ext>
            </a:extLst>
          </p:cNvPr>
          <p:cNvSpPr/>
          <p:nvPr/>
        </p:nvSpPr>
        <p:spPr>
          <a:xfrm>
            <a:off x="22523961" y="28598888"/>
            <a:ext cx="9980132" cy="1213104"/>
          </a:xfrm>
          <a:prstGeom prst="rect">
            <a:avLst/>
          </a:prstGeom>
          <a:solidFill>
            <a:srgbClr val="002A5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Remarks and Ongoing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766EEA-9710-84B3-8AEF-45EA2FF9AAA8}"/>
              </a:ext>
            </a:extLst>
          </p:cNvPr>
          <p:cNvSpPr/>
          <p:nvPr/>
        </p:nvSpPr>
        <p:spPr>
          <a:xfrm>
            <a:off x="16457194" y="12164990"/>
            <a:ext cx="16170442" cy="6583680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D437E9-66E2-FF1B-5EC3-36D36026B385}"/>
              </a:ext>
            </a:extLst>
          </p:cNvPr>
          <p:cNvSpPr/>
          <p:nvPr/>
        </p:nvSpPr>
        <p:spPr>
          <a:xfrm>
            <a:off x="385010" y="18911192"/>
            <a:ext cx="32125708" cy="9448816"/>
          </a:xfrm>
          <a:prstGeom prst="rect">
            <a:avLst/>
          </a:prstGeom>
          <a:noFill/>
          <a:ln w="127000" cap="sq">
            <a:solidFill>
              <a:srgbClr val="002A5C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1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282809-55F3-3AAD-6548-B81CF7D6E3A3}"/>
              </a:ext>
            </a:extLst>
          </p:cNvPr>
          <p:cNvSpPr/>
          <p:nvPr/>
        </p:nvSpPr>
        <p:spPr>
          <a:xfrm>
            <a:off x="338323" y="18897600"/>
            <a:ext cx="32175011" cy="1207008"/>
          </a:xfrm>
          <a:prstGeom prst="rect">
            <a:avLst/>
          </a:prstGeom>
          <a:solidFill>
            <a:srgbClr val="002A5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Our Developed Framework of LPBF-Specific FPP for Enhanced Measurement Capability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060289-D437-B1C1-2040-19B413FE1557}"/>
              </a:ext>
            </a:extLst>
          </p:cNvPr>
          <p:cNvSpPr/>
          <p:nvPr/>
        </p:nvSpPr>
        <p:spPr>
          <a:xfrm>
            <a:off x="489796" y="6888289"/>
            <a:ext cx="137236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52" marR="0" lvl="0" indent="-342952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In-situ layer-wise surface topography is essential for part qualification, providing information related to defects such as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recoater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hopping &amp; streaking, porosity, and spatter re-deposition. </a:t>
            </a:r>
          </a:p>
          <a:p>
            <a:pPr marL="342952" marR="0" lvl="0" indent="-342952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Fringe Projection Profilometry (FPP) is one such method which can offer in-situ surface topography measurements in LPBF efficiently, in a non-destructive and cost-effective manner </a:t>
            </a:r>
          </a:p>
          <a:p>
            <a:pPr marL="342952" marR="0" lvl="0" indent="-342952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However, the current state of art FPP for LPBF is susceptible to certain unique challenges such as low-resolution imaging, variable reflectance issues from powder and print part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C3DEDF48-0D79-FBDC-6D7C-DD0E157D64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499" y="6464103"/>
          <a:ext cx="1206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1206360" imgH="177480" progId="Equation.DSMT4">
                  <p:embed/>
                </p:oleObj>
              </mc:Choice>
              <mc:Fallback>
                <p:oleObj name="Equation" r:id="rId4" imgW="1206360" imgH="1774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C3DEDF48-0D79-FBDC-6D7C-DD0E157D64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52499" y="6464103"/>
                        <a:ext cx="1206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26B90582-97E9-E7C1-C273-2FB577010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4019" y="6431733"/>
          <a:ext cx="1206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206360" imgH="177480" progId="Equation.DSMT4">
                  <p:embed/>
                </p:oleObj>
              </mc:Choice>
              <mc:Fallback>
                <p:oleObj name="Equation" r:id="rId6" imgW="1206360" imgH="1774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26B90582-97E9-E7C1-C273-2FB5770106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34019" y="6431733"/>
                        <a:ext cx="1206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7F14350-E5E2-2764-ADA5-7B33B32A97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65683" y="6394660"/>
          <a:ext cx="1206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1206360" imgH="177480" progId="Equation.DSMT4">
                  <p:embed/>
                </p:oleObj>
              </mc:Choice>
              <mc:Fallback>
                <p:oleObj name="Equation" r:id="rId8" imgW="1206360" imgH="1774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B7F14350-E5E2-2764-ADA5-7B33B32A9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65683" y="6394660"/>
                        <a:ext cx="1206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BC6583B-284E-6862-E450-64622956BBB0}"/>
              </a:ext>
            </a:extLst>
          </p:cNvPr>
          <p:cNvSpPr txBox="1">
            <a:spLocks/>
          </p:cNvSpPr>
          <p:nvPr/>
        </p:nvSpPr>
        <p:spPr>
          <a:xfrm>
            <a:off x="22366267" y="29827201"/>
            <a:ext cx="10207652" cy="11266465"/>
          </a:xfrm>
          <a:prstGeom prst="rect">
            <a:avLst/>
          </a:prstGeom>
        </p:spPr>
        <p:txBody>
          <a:bodyPr vert="horz" lIns="381433" tIns="190717" rIns="381433" bIns="190717" rtlCol="0">
            <a:noAutofit/>
          </a:bodyPr>
          <a:lstStyle>
            <a:lvl1pPr marL="0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13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907164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1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814328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10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5721492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8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7628656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8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535820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8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442984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8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350149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8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5257313" indent="0" algn="ctr" defTabSz="3814328" rtl="0" eaLnBrk="1" latinLnBrk="0" hangingPunct="1">
              <a:spcBef>
                <a:spcPct val="20000"/>
              </a:spcBef>
              <a:buFont typeface="Arial" pitchFamily="34" charset="0"/>
              <a:buNone/>
              <a:defRPr sz="8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kumimoji="0" lang="en-US" sz="3200" b="1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Outcomes:</a:t>
            </a:r>
            <a:endParaRPr kumimoji="0" lang="en-US" sz="3200" b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The developed ML enhanced HDR-FPP method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successfully mitigates the intensity saturation and shadowing problems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and improves the resolution that is typically limited by hardware.</a:t>
            </a: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Through developed ML models,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the lateral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resolution of HDR-FPP (38 µm) is improved to 5 µm, and the vertical resolution is improved from 10 µm to 1 µm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.</a:t>
            </a: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The ML enhanced HDR-FPP method aids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detection of microscopic defects that are not discernable by conventional FPP methods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. 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Ongoing Work:</a:t>
            </a: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Improve the algorithm and code for computation time-efficiency and real-time implementation.</a:t>
            </a:r>
          </a:p>
          <a:p>
            <a:pPr marL="457200" marR="0" lvl="0" indent="-457200" algn="just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Develop more advanced phase unwrapping methods</a:t>
            </a:r>
          </a:p>
          <a:p>
            <a:pPr marL="342952" marR="0" lvl="0" indent="-342952" algn="l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342952" marR="0" lvl="0" indent="-342952" algn="l" defTabSz="381432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67ECA26-F1BD-D4C0-605E-01AF8EB4F315}"/>
              </a:ext>
            </a:extLst>
          </p:cNvPr>
          <p:cNvSpPr txBox="1">
            <a:spLocks/>
          </p:cNvSpPr>
          <p:nvPr/>
        </p:nvSpPr>
        <p:spPr>
          <a:xfrm>
            <a:off x="22774535" y="36305268"/>
            <a:ext cx="7886701" cy="386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52" marR="0" lvl="0" indent="-342952" algn="l" defTabSz="381490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2CFE1C-2498-561D-AFE6-84B27AA11192}"/>
              </a:ext>
            </a:extLst>
          </p:cNvPr>
          <p:cNvSpPr/>
          <p:nvPr/>
        </p:nvSpPr>
        <p:spPr>
          <a:xfrm>
            <a:off x="532065" y="41532143"/>
            <a:ext cx="1653994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Acknowledgements: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Department of Energy University Turbine Systems Research grant (DE-FOA-0001993 Award Number: FE0031774)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NSF IUCRC Center for Materials Data Science for Reliability and Degradation (MDS-Rely) (Award#: 2052662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ANSYS Additive Manufacturing Research Laboratory (AMRL) at University of Pittsburgh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This work used the NSF’s Extreme Science and Engineering Discovery Environment (XSEDE) resource - Pittsburgh Supercomputing Center Bridges-2 GPU and Storage through allocation grants MCH200015 and MCH210015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3B60DB-0865-B507-7A60-C32729611ADB}"/>
              </a:ext>
            </a:extLst>
          </p:cNvPr>
          <p:cNvSpPr/>
          <p:nvPr/>
        </p:nvSpPr>
        <p:spPr>
          <a:xfrm>
            <a:off x="402183" y="5543324"/>
            <a:ext cx="32114310" cy="1209760"/>
          </a:xfrm>
          <a:prstGeom prst="rect">
            <a:avLst/>
          </a:prstGeom>
          <a:solidFill>
            <a:srgbClr val="002A5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 Motivations</a:t>
            </a:r>
          </a:p>
        </p:txBody>
      </p:sp>
      <p:pic>
        <p:nvPicPr>
          <p:cNvPr id="32" name="Picture 3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1023C4-AE75-AA8A-A5C1-4251469381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34" y="2658282"/>
            <a:ext cx="5703044" cy="196184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9A3200-BFD7-23FD-0DD8-78C62DE958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50629" y="41791018"/>
            <a:ext cx="1741994" cy="174199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8F04B46-67C4-16E3-2C11-2A638C1AAB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915" y="13667574"/>
            <a:ext cx="5852160" cy="43318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4" name="Picture 2" descr="https://federallabs.org/sites/default/files/styles/lab_logo/public/labs/netl-logo.png?itok=F2fjns_i">
            <a:extLst>
              <a:ext uri="{FF2B5EF4-FFF2-40B4-BE49-F238E27FC236}">
                <a16:creationId xmlns:a16="http://schemas.microsoft.com/office/drawing/2014/main" id="{DF363779-5D1F-B5E5-C43A-6336424B1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8600" y="41986200"/>
            <a:ext cx="345988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6786B8-D02F-726C-7957-B1955C04DF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365202" y="41568518"/>
            <a:ext cx="2424419" cy="914400"/>
          </a:xfrm>
          <a:prstGeom prst="rect">
            <a:avLst/>
          </a:prstGeom>
        </p:spPr>
      </p:pic>
      <p:pic>
        <p:nvPicPr>
          <p:cNvPr id="56" name="Picture 6" descr="XSEDE Project Brings Advanced Cyberinfrastructure, Digital Services and  Expertise to Nation&amp;#39;s Scientists and Engineers- All Images | NSF - National  Science Foundation">
            <a:extLst>
              <a:ext uri="{FF2B5EF4-FFF2-40B4-BE49-F238E27FC236}">
                <a16:creationId xmlns:a16="http://schemas.microsoft.com/office/drawing/2014/main" id="{DBD10667-DBC3-513E-8E42-E03894E7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5400" y="42595800"/>
            <a:ext cx="241495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http://www.cs.gsu.edu/~tcpp/curriculum/sites/default/files/nsf_logo.jpg">
            <a:hlinkClick r:id="rId16"/>
            <a:extLst>
              <a:ext uri="{FF2B5EF4-FFF2-40B4-BE49-F238E27FC236}">
                <a16:creationId xmlns:a16="http://schemas.microsoft.com/office/drawing/2014/main" id="{9B6D1635-6E22-E0CD-D683-675B20585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0" y="42458640"/>
            <a:ext cx="1188720" cy="1188720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8" descr="Bridges-2 User Guide | PSC">
            <a:extLst>
              <a:ext uri="{FF2B5EF4-FFF2-40B4-BE49-F238E27FC236}">
                <a16:creationId xmlns:a16="http://schemas.microsoft.com/office/drawing/2014/main" id="{FF2B4C99-38A0-D301-D072-BD8413E09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1400" y="41605200"/>
            <a:ext cx="2069272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0" descr="PSC | Pittsburgh Supercomputing Center">
            <a:extLst>
              <a:ext uri="{FF2B5EF4-FFF2-40B4-BE49-F238E27FC236}">
                <a16:creationId xmlns:a16="http://schemas.microsoft.com/office/drawing/2014/main" id="{793CD742-0B2B-4E12-8A65-9998E87E5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9760" y="41605200"/>
            <a:ext cx="146304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ED85BE51-A3EC-658E-1653-8E9175DDC49D}"/>
              </a:ext>
            </a:extLst>
          </p:cNvPr>
          <p:cNvSpPr/>
          <p:nvPr/>
        </p:nvSpPr>
        <p:spPr>
          <a:xfrm>
            <a:off x="-847395" y="18175690"/>
            <a:ext cx="159278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Schematics and actual setup of FPP on EOS M290</a:t>
            </a:r>
          </a:p>
        </p:txBody>
      </p:sp>
      <p:pic>
        <p:nvPicPr>
          <p:cNvPr id="92" name="Picture 91" descr="A picture containing photo, different&#10;&#10;Description automatically generated">
            <a:extLst>
              <a:ext uri="{FF2B5EF4-FFF2-40B4-BE49-F238E27FC236}">
                <a16:creationId xmlns:a16="http://schemas.microsoft.com/office/drawing/2014/main" id="{2D93B722-E386-F28A-1AB4-03B5A161BE8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061" y="6759713"/>
            <a:ext cx="5486400" cy="4317450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7793D68E-4F56-08FE-C848-DCFA35816E3D}"/>
              </a:ext>
            </a:extLst>
          </p:cNvPr>
          <p:cNvSpPr/>
          <p:nvPr/>
        </p:nvSpPr>
        <p:spPr>
          <a:xfrm>
            <a:off x="20017632" y="11093284"/>
            <a:ext cx="5617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Process Parameters vs Porosity Defects (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Majumdar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, Trina, et al. (2019)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)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DD26316-DF4F-2B66-EB5D-7C2260A2217B}"/>
              </a:ext>
            </a:extLst>
          </p:cNvPr>
          <p:cNvGrpSpPr/>
          <p:nvPr/>
        </p:nvGrpSpPr>
        <p:grpSpPr>
          <a:xfrm>
            <a:off x="8274373" y="13692317"/>
            <a:ext cx="7892947" cy="4572000"/>
            <a:chOff x="-126893" y="-361276"/>
            <a:chExt cx="6467765" cy="3748332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6709C25-970D-C9E3-DCD2-96B0841321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-558"/>
            <a:stretch/>
          </p:blipFill>
          <p:spPr bwMode="auto">
            <a:xfrm>
              <a:off x="-126893" y="-361276"/>
              <a:ext cx="6467765" cy="374833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46AD77E6-4830-58EC-47F8-C34F7138F1C1}"/>
                </a:ext>
              </a:extLst>
            </p:cNvPr>
            <p:cNvSpPr/>
            <p:nvPr/>
          </p:nvSpPr>
          <p:spPr>
            <a:xfrm>
              <a:off x="693812" y="1969046"/>
              <a:ext cx="1087808" cy="53364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CMOS camera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8EB25977-2B0D-97D1-32C9-4EF248994AA9}"/>
                </a:ext>
              </a:extLst>
            </p:cNvPr>
            <p:cNvSpPr/>
            <p:nvPr/>
          </p:nvSpPr>
          <p:spPr>
            <a:xfrm>
              <a:off x="620916" y="49640"/>
              <a:ext cx="1074959" cy="2818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Projector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A5CFB75-E21E-5CD4-9A0D-C7B94B850C4A}"/>
                </a:ext>
              </a:extLst>
            </p:cNvPr>
            <p:cNvSpPr/>
            <p:nvPr/>
          </p:nvSpPr>
          <p:spPr>
            <a:xfrm>
              <a:off x="2405296" y="2748923"/>
              <a:ext cx="1201355" cy="56237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Building Chamber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8" name="Picture 97" descr="A building with many windows&#10;&#10;Description automatically generated with low confidence">
            <a:extLst>
              <a:ext uri="{FF2B5EF4-FFF2-40B4-BE49-F238E27FC236}">
                <a16:creationId xmlns:a16="http://schemas.microsoft.com/office/drawing/2014/main" id="{0BF31622-EF0A-4BD9-93E9-722D133A68EA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2210" y="6815894"/>
            <a:ext cx="5260425" cy="457200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28A566E-F72D-819F-8542-C646E0BCDD0D}"/>
              </a:ext>
            </a:extLst>
          </p:cNvPr>
          <p:cNvSpPr txBox="1"/>
          <p:nvPr/>
        </p:nvSpPr>
        <p:spPr>
          <a:xfrm>
            <a:off x="25919763" y="11462616"/>
            <a:ext cx="6147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Representative FPP image for a LPBF print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000D9B5-B52D-E939-C55B-A3F267735E73}"/>
              </a:ext>
            </a:extLst>
          </p:cNvPr>
          <p:cNvSpPr/>
          <p:nvPr/>
        </p:nvSpPr>
        <p:spPr>
          <a:xfrm>
            <a:off x="16527158" y="12207474"/>
            <a:ext cx="16100478" cy="1460100"/>
          </a:xfrm>
          <a:prstGeom prst="rect">
            <a:avLst/>
          </a:prstGeom>
          <a:solidFill>
            <a:srgbClr val="002A5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FFBB1A"/>
                </a:solidFill>
                <a:effectLst/>
                <a:uLnTx/>
                <a:uFillTx/>
                <a:latin typeface="Helvetica"/>
                <a:ea typeface="+mn-ea"/>
                <a:cs typeface="Helvetica"/>
              </a:rPr>
              <a:t>Research Objectives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F524FC7-9BD1-4317-EF4A-3B91B418D0E5}"/>
              </a:ext>
            </a:extLst>
          </p:cNvPr>
          <p:cNvSpPr/>
          <p:nvPr/>
        </p:nvSpPr>
        <p:spPr>
          <a:xfrm>
            <a:off x="16726343" y="14029428"/>
            <a:ext cx="15661316" cy="452431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</a:rPr>
              <a:t>Improve FPP for LPBF process measurement with  a modified sensor model using localized intensity correction and phase unwrapping with FFT filtering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</a:rPr>
              <a:t>Implement projector-based high dynamic range (HDR) methods to mitigate shadowing and intensity saturation issues due to the reflectance difference between powder and print part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Develop machine Learning (ML) based models to overcome the hardware and optics constraints for better accuracy and resolution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35031DE-29FA-5E6C-4B37-155B63C927FB}"/>
              </a:ext>
            </a:extLst>
          </p:cNvPr>
          <p:cNvGrpSpPr/>
          <p:nvPr/>
        </p:nvGrpSpPr>
        <p:grpSpPr>
          <a:xfrm>
            <a:off x="-14398" y="21120087"/>
            <a:ext cx="7639293" cy="2192560"/>
            <a:chOff x="-206361" y="20549936"/>
            <a:chExt cx="7639293" cy="219256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94889D58-12DF-287E-39F7-D65B09E5D819}"/>
                </a:ext>
              </a:extLst>
            </p:cNvPr>
            <p:cNvGrpSpPr/>
            <p:nvPr/>
          </p:nvGrpSpPr>
          <p:grpSpPr>
            <a:xfrm>
              <a:off x="1053904" y="21060831"/>
              <a:ext cx="6379028" cy="1681665"/>
              <a:chOff x="2294019" y="1568791"/>
              <a:chExt cx="6379028" cy="1681665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EA539524-FA43-98AF-7D5F-E8FA9E6795D1}"/>
                  </a:ext>
                </a:extLst>
              </p:cNvPr>
              <p:cNvGrpSpPr/>
              <p:nvPr/>
            </p:nvGrpSpPr>
            <p:grpSpPr>
              <a:xfrm>
                <a:off x="2294019" y="1646453"/>
                <a:ext cx="6379028" cy="1604003"/>
                <a:chOff x="3062447" y="773036"/>
                <a:chExt cx="7315805" cy="1839626"/>
              </a:xfrm>
            </p:grpSpPr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C944F593-992B-55B6-653C-610E180B5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15753" y="773036"/>
                  <a:ext cx="985559" cy="0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A46FB16-1345-A40B-19C8-A6B220F0F43D}"/>
                    </a:ext>
                  </a:extLst>
                </p:cNvPr>
                <p:cNvSpPr txBox="1"/>
                <p:nvPr/>
              </p:nvSpPr>
              <p:spPr>
                <a:xfrm>
                  <a:off x="8190480" y="1247276"/>
                  <a:ext cx="2187772" cy="9530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rPr>
                    <a:t>Fused Image</a:t>
                  </a: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E9B7805-45A1-7A79-FE43-79A35CB89782}"/>
                    </a:ext>
                  </a:extLst>
                </p:cNvPr>
                <p:cNvSpPr txBox="1"/>
                <p:nvPr/>
              </p:nvSpPr>
              <p:spPr>
                <a:xfrm>
                  <a:off x="5456450" y="1236009"/>
                  <a:ext cx="2187770" cy="1376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rPr>
                    <a:t>Image with Dark Intensity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F30FF3E6-40DA-085D-37C6-B9CCDE4DA240}"/>
                    </a:ext>
                  </a:extLst>
                </p:cNvPr>
                <p:cNvSpPr txBox="1"/>
                <p:nvPr/>
              </p:nvSpPr>
              <p:spPr>
                <a:xfrm>
                  <a:off x="3062447" y="1231675"/>
                  <a:ext cx="1847744" cy="1376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rPr>
                    <a:t>Image with Bright Intensity</a:t>
                  </a:r>
                </a:p>
              </p:txBody>
            </p:sp>
          </p:grpSp>
          <p:sp>
            <p:nvSpPr>
              <p:cNvPr id="113" name="Plus 21">
                <a:extLst>
                  <a:ext uri="{FF2B5EF4-FFF2-40B4-BE49-F238E27FC236}">
                    <a16:creationId xmlns:a16="http://schemas.microsoft.com/office/drawing/2014/main" id="{B88FFB80-DDB6-B963-8536-38A6BDB1E6E5}"/>
                  </a:ext>
                </a:extLst>
              </p:cNvPr>
              <p:cNvSpPr/>
              <p:nvPr/>
            </p:nvSpPr>
            <p:spPr>
              <a:xfrm>
                <a:off x="4089371" y="1568791"/>
                <a:ext cx="457710" cy="377977"/>
              </a:xfrm>
              <a:prstGeom prst="mathPlus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118" name="Picture 117" descr="A black rectangle with a white background&#10;&#10;Description automatically generated with low confidence">
              <a:extLst>
                <a:ext uri="{FF2B5EF4-FFF2-40B4-BE49-F238E27FC236}">
                  <a16:creationId xmlns:a16="http://schemas.microsoft.com/office/drawing/2014/main" id="{47AD2943-1245-BB5C-995A-17D0D02485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99" t="22252" r="29082" b="40936"/>
            <a:stretch/>
          </p:blipFill>
          <p:spPr>
            <a:xfrm>
              <a:off x="5880742" y="20549936"/>
              <a:ext cx="1158146" cy="1009836"/>
            </a:xfrm>
            <a:prstGeom prst="rect">
              <a:avLst/>
            </a:prstGeom>
          </p:spPr>
        </p:pic>
        <p:pic>
          <p:nvPicPr>
            <p:cNvPr id="119" name="Picture 118" descr="A black rectangle with a white background&#10;&#10;Description automatically generated with low confidence">
              <a:extLst>
                <a:ext uri="{FF2B5EF4-FFF2-40B4-BE49-F238E27FC236}">
                  <a16:creationId xmlns:a16="http://schemas.microsoft.com/office/drawing/2014/main" id="{09FE71B5-6CAB-0920-E403-0E2D1F1D2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4383" t="23158" r="24383" b="40248"/>
            <a:stretch/>
          </p:blipFill>
          <p:spPr>
            <a:xfrm>
              <a:off x="-206361" y="20555915"/>
              <a:ext cx="2743200" cy="1003858"/>
            </a:xfrm>
            <a:prstGeom prst="rect">
              <a:avLst/>
            </a:prstGeom>
          </p:spPr>
        </p:pic>
        <p:pic>
          <p:nvPicPr>
            <p:cNvPr id="120" name="Picture 119" descr="A black rectangle with a white background&#10;&#10;Description automatically generated with low confidence">
              <a:extLst>
                <a:ext uri="{FF2B5EF4-FFF2-40B4-BE49-F238E27FC236}">
                  <a16:creationId xmlns:a16="http://schemas.microsoft.com/office/drawing/2014/main" id="{4C936C32-362B-1149-7ABB-ECFA439042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06" t="22679" r="22478" b="40508"/>
            <a:stretch/>
          </p:blipFill>
          <p:spPr>
            <a:xfrm>
              <a:off x="3340572" y="20555914"/>
              <a:ext cx="1509204" cy="1009835"/>
            </a:xfrm>
            <a:prstGeom prst="rect">
              <a:avLst/>
            </a:prstGeom>
          </p:spPr>
        </p:pic>
      </p:grpSp>
      <p:pic>
        <p:nvPicPr>
          <p:cNvPr id="157" name="Picture 156">
            <a:extLst>
              <a:ext uri="{FF2B5EF4-FFF2-40B4-BE49-F238E27FC236}">
                <a16:creationId xmlns:a16="http://schemas.microsoft.com/office/drawing/2014/main" id="{491F41BF-E1FC-0FF8-D00B-0281FBE7E2A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907" y="25382452"/>
            <a:ext cx="1135818" cy="1134390"/>
          </a:xfrm>
          <a:prstGeom prst="rect">
            <a:avLst/>
          </a:prstGeom>
        </p:spPr>
      </p:pic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65010AB-9602-A270-04E1-ADD090C8892B}"/>
              </a:ext>
            </a:extLst>
          </p:cNvPr>
          <p:cNvGrpSpPr/>
          <p:nvPr/>
        </p:nvGrpSpPr>
        <p:grpSpPr>
          <a:xfrm>
            <a:off x="28355030" y="26686075"/>
            <a:ext cx="3904550" cy="1132430"/>
            <a:chOff x="6710805" y="3369820"/>
            <a:chExt cx="2837785" cy="824074"/>
          </a:xfrm>
        </p:grpSpPr>
        <p:pic>
          <p:nvPicPr>
            <p:cNvPr id="180" name="Picture 179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9A993E58-8480-E5CA-89D4-0A9A8BCD8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0805" y="3369820"/>
              <a:ext cx="824074" cy="8240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3E70317-897D-4297-5073-99C5722ED838}"/>
                    </a:ext>
                  </a:extLst>
                </p:cNvPr>
                <p:cNvSpPr txBox="1"/>
                <p:nvPr/>
              </p:nvSpPr>
              <p:spPr>
                <a:xfrm>
                  <a:off x="7414363" y="3465324"/>
                  <a:ext cx="2134227" cy="694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a14:m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rPr>
                    <a:t>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+mn-ea"/>
                      <a:cs typeface="Helvetica" panose="020B0604020202020204" pitchFamily="34" charset="0"/>
                    </a:rPr>
                    <a:t>(Low Resolution)</a:t>
                  </a: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3E70317-897D-4297-5073-99C5722ED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363" y="3465324"/>
                  <a:ext cx="2134227" cy="694308"/>
                </a:xfrm>
                <a:prstGeom prst="rect">
                  <a:avLst/>
                </a:prstGeom>
                <a:blipFill>
                  <a:blip r:embed="rId29"/>
                  <a:stretch>
                    <a:fillRect l="-2490" r="-2490" b="-165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9A58FBBF-8D5C-4577-C7A7-1052CB65AE6F}"/>
              </a:ext>
            </a:extLst>
          </p:cNvPr>
          <p:cNvSpPr txBox="1"/>
          <p:nvPr/>
        </p:nvSpPr>
        <p:spPr>
          <a:xfrm>
            <a:off x="18786969" y="26580499"/>
            <a:ext cx="2997510" cy="523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(High Resolution)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C694278-FB8D-449B-3E6B-C474D6A0E5F5}"/>
              </a:ext>
            </a:extLst>
          </p:cNvPr>
          <p:cNvGrpSpPr/>
          <p:nvPr/>
        </p:nvGrpSpPr>
        <p:grpSpPr>
          <a:xfrm>
            <a:off x="20917803" y="25819194"/>
            <a:ext cx="707055" cy="116461"/>
            <a:chOff x="4101808" y="2651760"/>
            <a:chExt cx="513880" cy="84749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F2FF6EBB-815F-91A0-64C6-E5F4F5E7912C}"/>
                </a:ext>
              </a:extLst>
            </p:cNvPr>
            <p:cNvSpPr/>
            <p:nvPr/>
          </p:nvSpPr>
          <p:spPr>
            <a:xfrm>
              <a:off x="4105656" y="2651760"/>
              <a:ext cx="82296" cy="8416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0E53E942-E176-16F5-1624-2A79FC75B848}"/>
                </a:ext>
              </a:extLst>
            </p:cNvPr>
            <p:cNvSpPr/>
            <p:nvPr/>
          </p:nvSpPr>
          <p:spPr>
            <a:xfrm>
              <a:off x="4101808" y="2651760"/>
              <a:ext cx="82296" cy="8416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AF3F35E-C133-475C-BA1C-A01BDBB0F33F}"/>
                </a:ext>
              </a:extLst>
            </p:cNvPr>
            <p:cNvSpPr/>
            <p:nvPr/>
          </p:nvSpPr>
          <p:spPr>
            <a:xfrm>
              <a:off x="4533392" y="2651760"/>
              <a:ext cx="82296" cy="8416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1AF3F35E-C133-475C-BA1C-A01BDBB0F33F}"/>
                </a:ext>
              </a:extLst>
            </p:cNvPr>
            <p:cNvSpPr/>
            <p:nvPr/>
          </p:nvSpPr>
          <p:spPr>
            <a:xfrm>
              <a:off x="4310453" y="2652347"/>
              <a:ext cx="82296" cy="8416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8550B28-50CF-393F-DAD4-D15F9F8C2D9F}"/>
              </a:ext>
            </a:extLst>
          </p:cNvPr>
          <p:cNvGrpSpPr/>
          <p:nvPr/>
        </p:nvGrpSpPr>
        <p:grpSpPr>
          <a:xfrm>
            <a:off x="20970418" y="24781970"/>
            <a:ext cx="2997510" cy="1750607"/>
            <a:chOff x="2519069" y="1928043"/>
            <a:chExt cx="2178558" cy="1273924"/>
          </a:xfrm>
        </p:grpSpPr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070A8322-16E9-53B3-B264-7BE11C52E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947" y="2365016"/>
              <a:ext cx="824074" cy="83695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AB40A2B-F79F-9150-4212-7B4BEFDA674F}"/>
                    </a:ext>
                  </a:extLst>
                </p:cNvPr>
                <p:cNvSpPr txBox="1"/>
                <p:nvPr/>
              </p:nvSpPr>
              <p:spPr>
                <a:xfrm>
                  <a:off x="2519069" y="1928043"/>
                  <a:ext cx="2178558" cy="380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kumimoji="0" 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AB40A2B-F79F-9150-4212-7B4BEFDA6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9069" y="1928043"/>
                  <a:ext cx="2178558" cy="38074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F50A4D9-EA39-A71A-4671-A35B8CD86154}"/>
              </a:ext>
            </a:extLst>
          </p:cNvPr>
          <p:cNvGrpSpPr/>
          <p:nvPr/>
        </p:nvGrpSpPr>
        <p:grpSpPr>
          <a:xfrm>
            <a:off x="26311381" y="24781782"/>
            <a:ext cx="5599373" cy="1750794"/>
            <a:chOff x="5088468" y="1924772"/>
            <a:chExt cx="4069564" cy="1274060"/>
          </a:xfrm>
        </p:grpSpPr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4DE7D9B9-C4F7-A34D-B38E-33D9E2AEF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3773" y="2361882"/>
              <a:ext cx="824074" cy="8369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AC4FC481-F576-43CA-0105-19E9BA8251D2}"/>
                    </a:ext>
                  </a:extLst>
                </p:cNvPr>
                <p:cNvSpPr txBox="1"/>
                <p:nvPr/>
              </p:nvSpPr>
              <p:spPr>
                <a:xfrm>
                  <a:off x="7629105" y="2594040"/>
                  <a:ext cx="1528927" cy="380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~</m:t>
                        </m:r>
                        <m:r>
                          <m:rPr>
                            <m:sty m:val="p"/>
                          </m:rPr>
                          <a:rPr kumimoji="0" lang="el-GR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Ν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(0, 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𝐼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AC4FC481-F576-43CA-0105-19E9BA825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9105" y="2594040"/>
                  <a:ext cx="1528927" cy="38075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A0F09FD-0D39-7B47-63A6-585DF30D6AFE}"/>
                </a:ext>
              </a:extLst>
            </p:cNvPr>
            <p:cNvGrpSpPr/>
            <p:nvPr/>
          </p:nvGrpSpPr>
          <p:grpSpPr>
            <a:xfrm>
              <a:off x="5959859" y="2684438"/>
              <a:ext cx="510034" cy="84162"/>
              <a:chOff x="5478275" y="2761322"/>
              <a:chExt cx="510034" cy="84162"/>
            </a:xfrm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DE6D5928-F3A6-AAB5-E9EC-E01F62DCCF16}"/>
                  </a:ext>
                </a:extLst>
              </p:cNvPr>
              <p:cNvSpPr/>
              <p:nvPr/>
            </p:nvSpPr>
            <p:spPr>
              <a:xfrm>
                <a:off x="5478275" y="2761322"/>
                <a:ext cx="82296" cy="8416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39A825EA-9416-5628-6508-C96B46F859B4}"/>
                  </a:ext>
                </a:extLst>
              </p:cNvPr>
              <p:cNvSpPr/>
              <p:nvPr/>
            </p:nvSpPr>
            <p:spPr>
              <a:xfrm>
                <a:off x="5695955" y="2761322"/>
                <a:ext cx="82296" cy="8416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8B56FC91-B7BE-354B-B9C4-ACF9C2D6D6D3}"/>
                  </a:ext>
                </a:extLst>
              </p:cNvPr>
              <p:cNvSpPr/>
              <p:nvPr/>
            </p:nvSpPr>
            <p:spPr>
              <a:xfrm>
                <a:off x="5906013" y="2761322"/>
                <a:ext cx="82296" cy="8416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5D0143B5-CE25-64F0-6D3B-EAAC7CD95F89}"/>
                    </a:ext>
                  </a:extLst>
                </p:cNvPr>
                <p:cNvSpPr txBox="1"/>
                <p:nvPr/>
              </p:nvSpPr>
              <p:spPr>
                <a:xfrm>
                  <a:off x="5088468" y="1924772"/>
                  <a:ext cx="908235" cy="380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5D0143B5-CE25-64F0-6D3B-EAAC7CD95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8468" y="1924772"/>
                  <a:ext cx="908235" cy="38074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3" name="Picture 162" descr="A picture containing text, green&#10;&#10;Description automatically generated">
            <a:extLst>
              <a:ext uri="{FF2B5EF4-FFF2-40B4-BE49-F238E27FC236}">
                <a16:creationId xmlns:a16="http://schemas.microsoft.com/office/drawing/2014/main" id="{1A46CDA0-32AE-C294-831E-E078628F69E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443" y="25378089"/>
            <a:ext cx="1135818" cy="1143116"/>
          </a:xfrm>
          <a:prstGeom prst="rect">
            <a:avLst/>
          </a:prstGeom>
        </p:spPr>
      </p:pic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895BEAA-31D2-D438-260D-02AF971E3DFE}"/>
              </a:ext>
            </a:extLst>
          </p:cNvPr>
          <p:cNvCxnSpPr>
            <a:cxnSpLocks/>
          </p:cNvCxnSpPr>
          <p:nvPr/>
        </p:nvCxnSpPr>
        <p:spPr>
          <a:xfrm>
            <a:off x="23028349" y="25715178"/>
            <a:ext cx="2987628" cy="0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1DA1E13-CCB3-685B-C87A-9EB68A4A5009}"/>
                  </a:ext>
                </a:extLst>
              </p:cNvPr>
              <p:cNvSpPr txBox="1"/>
              <p:nvPr/>
            </p:nvSpPr>
            <p:spPr>
              <a:xfrm>
                <a:off x="23040951" y="25074244"/>
                <a:ext cx="2997510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1DA1E13-CCB3-685B-C87A-9EB68A4A5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0951" y="25074244"/>
                <a:ext cx="2997510" cy="52321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76065EC-ECAB-89C5-9C1E-034F496B79C1}"/>
                  </a:ext>
                </a:extLst>
              </p:cNvPr>
              <p:cNvSpPr txBox="1"/>
              <p:nvPr/>
            </p:nvSpPr>
            <p:spPr>
              <a:xfrm>
                <a:off x="23040951" y="26225977"/>
                <a:ext cx="2997510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76065EC-ECAB-89C5-9C1E-034F496B7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0951" y="26225977"/>
                <a:ext cx="2997510" cy="52321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2B22CE9-7F73-351D-6F90-9E422889C390}"/>
              </a:ext>
            </a:extLst>
          </p:cNvPr>
          <p:cNvCxnSpPr>
            <a:cxnSpLocks/>
          </p:cNvCxnSpPr>
          <p:nvPr/>
        </p:nvCxnSpPr>
        <p:spPr>
          <a:xfrm flipH="1" flipV="1">
            <a:off x="23028349" y="26203974"/>
            <a:ext cx="2843549" cy="20727"/>
          </a:xfrm>
          <a:prstGeom prst="straightConnector1">
            <a:avLst/>
          </a:prstGeom>
          <a:ln w="50800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02531B07-F642-9FB8-3F2F-A3F70AB3AE91}"/>
              </a:ext>
            </a:extLst>
          </p:cNvPr>
          <p:cNvSpPr/>
          <p:nvPr/>
        </p:nvSpPr>
        <p:spPr>
          <a:xfrm>
            <a:off x="857364" y="24116662"/>
            <a:ext cx="1976703" cy="3378201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FPP images at different intensities projected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5DA7801C-C514-7F12-CD2A-196D02B8BAFE}"/>
              </a:ext>
            </a:extLst>
          </p:cNvPr>
          <p:cNvCxnSpPr>
            <a:cxnSpLocks/>
            <a:endCxn id="194" idx="1"/>
          </p:cNvCxnSpPr>
          <p:nvPr/>
        </p:nvCxnSpPr>
        <p:spPr>
          <a:xfrm>
            <a:off x="2786604" y="25691590"/>
            <a:ext cx="517230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4B13C0D3-68A6-75FD-7292-CD206568834F}"/>
              </a:ext>
            </a:extLst>
          </p:cNvPr>
          <p:cNvSpPr/>
          <p:nvPr/>
        </p:nvSpPr>
        <p:spPr>
          <a:xfrm>
            <a:off x="3303834" y="24002490"/>
            <a:ext cx="1464519" cy="3378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Image fusion for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HDR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81392A62-AACA-E1B0-C433-70164766ADF7}"/>
              </a:ext>
            </a:extLst>
          </p:cNvPr>
          <p:cNvCxnSpPr>
            <a:cxnSpLocks/>
            <a:stCxn id="194" idx="3"/>
            <a:endCxn id="196" idx="1"/>
          </p:cNvCxnSpPr>
          <p:nvPr/>
        </p:nvCxnSpPr>
        <p:spPr>
          <a:xfrm>
            <a:off x="4768353" y="25691590"/>
            <a:ext cx="450125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BD883B7C-EF60-74F6-889D-01F9D6E063DC}"/>
              </a:ext>
            </a:extLst>
          </p:cNvPr>
          <p:cNvSpPr/>
          <p:nvPr/>
        </p:nvSpPr>
        <p:spPr>
          <a:xfrm>
            <a:off x="5218478" y="24002490"/>
            <a:ext cx="3309620" cy="3378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Wrapped Phase calculation with local intensity calibration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C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xy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&amp; Phase Unwrapping with 2D FFT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4CA8210A-DA60-642A-4DE5-BAEA2C2F754C}"/>
              </a:ext>
            </a:extLst>
          </p:cNvPr>
          <p:cNvSpPr/>
          <p:nvPr/>
        </p:nvSpPr>
        <p:spPr>
          <a:xfrm>
            <a:off x="861143" y="20794934"/>
            <a:ext cx="6826354" cy="2535955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35867464-C74D-867D-206C-99A18D314814}"/>
              </a:ext>
            </a:extLst>
          </p:cNvPr>
          <p:cNvSpPr/>
          <p:nvPr/>
        </p:nvSpPr>
        <p:spPr>
          <a:xfrm>
            <a:off x="7935893" y="20813013"/>
            <a:ext cx="2971498" cy="2501817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5B3F7E1B-75DE-BA4F-84A4-44CD0695810A}"/>
              </a:ext>
            </a:extLst>
          </p:cNvPr>
          <p:cNvCxnSpPr>
            <a:cxnSpLocks/>
            <a:stCxn id="194" idx="0"/>
          </p:cNvCxnSpPr>
          <p:nvPr/>
        </p:nvCxnSpPr>
        <p:spPr>
          <a:xfrm flipV="1">
            <a:off x="4036094" y="23358252"/>
            <a:ext cx="0" cy="644238"/>
          </a:xfrm>
          <a:prstGeom prst="straightConnector1">
            <a:avLst/>
          </a:prstGeom>
          <a:ln w="127000" cmpd="sng">
            <a:solidFill>
              <a:schemeClr val="tx1"/>
            </a:solidFill>
            <a:prstDash val="dash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782D2DAF-9550-E26E-2E61-7AB9002E0693}"/>
              </a:ext>
            </a:extLst>
          </p:cNvPr>
          <p:cNvCxnSpPr>
            <a:cxnSpLocks/>
          </p:cNvCxnSpPr>
          <p:nvPr/>
        </p:nvCxnSpPr>
        <p:spPr>
          <a:xfrm flipV="1">
            <a:off x="7332863" y="23358421"/>
            <a:ext cx="791231" cy="644238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A375D8F5-67C9-25B3-D311-5B5529335448}"/>
              </a:ext>
            </a:extLst>
          </p:cNvPr>
          <p:cNvCxnSpPr>
            <a:cxnSpLocks/>
            <a:stCxn id="196" idx="3"/>
            <a:endCxn id="134" idx="1"/>
          </p:cNvCxnSpPr>
          <p:nvPr/>
        </p:nvCxnSpPr>
        <p:spPr>
          <a:xfrm>
            <a:off x="8528098" y="25691590"/>
            <a:ext cx="285892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6581BCC5-97B0-7756-4C26-A1A7C39DBC78}"/>
              </a:ext>
            </a:extLst>
          </p:cNvPr>
          <p:cNvSpPr/>
          <p:nvPr/>
        </p:nvSpPr>
        <p:spPr>
          <a:xfrm>
            <a:off x="12787690" y="24002490"/>
            <a:ext cx="2104830" cy="3378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Developed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Machine Learning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(ML) models</a:t>
            </a: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2F6B153-144E-D104-1175-5C71548A2F3F}"/>
              </a:ext>
            </a:extLst>
          </p:cNvPr>
          <p:cNvCxnSpPr>
            <a:cxnSpLocks/>
            <a:stCxn id="215" idx="3"/>
            <a:endCxn id="217" idx="1"/>
          </p:cNvCxnSpPr>
          <p:nvPr/>
        </p:nvCxnSpPr>
        <p:spPr>
          <a:xfrm>
            <a:off x="14892520" y="25691590"/>
            <a:ext cx="455568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A7604EEA-7815-46CF-EAA1-E0882381C6D5}"/>
              </a:ext>
            </a:extLst>
          </p:cNvPr>
          <p:cNvSpPr/>
          <p:nvPr/>
        </p:nvSpPr>
        <p:spPr>
          <a:xfrm>
            <a:off x="15348088" y="24002490"/>
            <a:ext cx="2997510" cy="3378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ML enhanced Layer-wise print part surface topography 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higher resolution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392BDBED-E64B-0374-5B66-380F28DE178D}"/>
              </a:ext>
            </a:extLst>
          </p:cNvPr>
          <p:cNvSpPr/>
          <p:nvPr/>
        </p:nvSpPr>
        <p:spPr>
          <a:xfrm>
            <a:off x="11110740" y="20757732"/>
            <a:ext cx="3465225" cy="2535955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38C22BE5-CD6E-E45E-CFF7-0C41615E3549}"/>
              </a:ext>
            </a:extLst>
          </p:cNvPr>
          <p:cNvCxnSpPr>
            <a:cxnSpLocks/>
            <a:stCxn id="217" idx="0"/>
          </p:cNvCxnSpPr>
          <p:nvPr/>
        </p:nvCxnSpPr>
        <p:spPr>
          <a:xfrm flipV="1">
            <a:off x="16846843" y="23151982"/>
            <a:ext cx="0" cy="850508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4" name="Picture 22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9A07A0A-D5C0-D8DF-EDEB-8112BB0CFEDF}"/>
              </a:ext>
            </a:extLst>
          </p:cNvPr>
          <p:cNvPicPr>
            <a:picLocks noChangeAspect="1"/>
          </p:cNvPicPr>
          <p:nvPr/>
        </p:nvPicPr>
        <p:blipFill>
          <a:blip r:embed="rId3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601" y="20835347"/>
            <a:ext cx="2928377" cy="2189583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D0172BAF-B9F0-380B-3D86-588BC4753974}"/>
              </a:ext>
            </a:extLst>
          </p:cNvPr>
          <p:cNvPicPr>
            <a:picLocks noChangeAspect="1"/>
          </p:cNvPicPr>
          <p:nvPr/>
        </p:nvPicPr>
        <p:blipFill>
          <a:blip r:embed="rId3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9810" y="20893053"/>
            <a:ext cx="2127351" cy="2127351"/>
          </a:xfrm>
          <a:prstGeom prst="rect">
            <a:avLst/>
          </a:prstGeom>
        </p:spPr>
      </p:pic>
      <p:pic>
        <p:nvPicPr>
          <p:cNvPr id="226" name="Picture 225" descr="Chart, surface chart&#10;&#10;Description automatically generated">
            <a:extLst>
              <a:ext uri="{FF2B5EF4-FFF2-40B4-BE49-F238E27FC236}">
                <a16:creationId xmlns:a16="http://schemas.microsoft.com/office/drawing/2014/main" id="{52EB5F93-ACC6-269B-4330-D7494A51E6F6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0" y="29946958"/>
            <a:ext cx="4967605" cy="531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Picture 22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F2BEB36-849B-0B01-4C5B-A0EE3FED60D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585386" y="29827201"/>
            <a:ext cx="9183837" cy="3275176"/>
          </a:xfrm>
          <a:prstGeom prst="rect">
            <a:avLst/>
          </a:prstGeom>
        </p:spPr>
      </p:pic>
      <p:pic>
        <p:nvPicPr>
          <p:cNvPr id="228" name="Picture 227" descr="Chart&#10;&#10;Description automatically generated with medium confidence">
            <a:extLst>
              <a:ext uri="{FF2B5EF4-FFF2-40B4-BE49-F238E27FC236}">
                <a16:creationId xmlns:a16="http://schemas.microsoft.com/office/drawing/2014/main" id="{52DF16B2-975B-5202-5AF0-67DD86CE5AD4}"/>
              </a:ext>
            </a:extLst>
          </p:cNvPr>
          <p:cNvPicPr>
            <a:picLocks noChangeAspect="1"/>
          </p:cNvPicPr>
          <p:nvPr/>
        </p:nvPicPr>
        <p:blipFill rotWithShape="1"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9" t="3685" r="8174"/>
          <a:stretch/>
        </p:blipFill>
        <p:spPr bwMode="auto">
          <a:xfrm>
            <a:off x="5789380" y="33343266"/>
            <a:ext cx="8536560" cy="28930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0" name="Table 229">
                <a:extLst>
                  <a:ext uri="{FF2B5EF4-FFF2-40B4-BE49-F238E27FC236}">
                    <a16:creationId xmlns:a16="http://schemas.microsoft.com/office/drawing/2014/main" id="{B0BB058F-4597-CD71-6608-E5D13DAF4AE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53114" y="36005462"/>
              <a:ext cx="4655227" cy="14201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41999">
                      <a:extLst>
                        <a:ext uri="{9D8B030D-6E8A-4147-A177-3AD203B41FA5}">
                          <a16:colId xmlns:a16="http://schemas.microsoft.com/office/drawing/2014/main" val="2991760388"/>
                        </a:ext>
                      </a:extLst>
                    </a:gridCol>
                    <a:gridCol w="2113228">
                      <a:extLst>
                        <a:ext uri="{9D8B030D-6E8A-4147-A177-3AD203B41FA5}">
                          <a16:colId xmlns:a16="http://schemas.microsoft.com/office/drawing/2014/main" val="344280277"/>
                        </a:ext>
                      </a:extLst>
                    </a:gridCol>
                  </a:tblGrid>
                  <a:tr h="33978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 Method</a:t>
                          </a:r>
                          <a:endParaRPr lang="en-US" sz="2400" b="1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RMSE 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oMath>
                          </a14:m>
                          <a:r>
                            <a:rPr lang="en-US" sz="2400" b="1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)</a:t>
                          </a:r>
                          <a:endParaRPr lang="en-US" sz="2400" b="1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335158"/>
                      </a:ext>
                    </a:extLst>
                  </a:tr>
                  <a:tr h="5640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(HDR)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7.9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99645555"/>
                      </a:ext>
                    </a:extLst>
                  </a:tr>
                  <a:tr h="4959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(non-HDR)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12.7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7727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0" name="Table 229">
                <a:extLst>
                  <a:ext uri="{FF2B5EF4-FFF2-40B4-BE49-F238E27FC236}">
                    <a16:creationId xmlns:a16="http://schemas.microsoft.com/office/drawing/2014/main" id="{B0BB058F-4597-CD71-6608-E5D13DAF4AE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53114" y="36005462"/>
              <a:ext cx="4655227" cy="14201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41999">
                      <a:extLst>
                        <a:ext uri="{9D8B030D-6E8A-4147-A177-3AD203B41FA5}">
                          <a16:colId xmlns:a16="http://schemas.microsoft.com/office/drawing/2014/main" val="2991760388"/>
                        </a:ext>
                      </a:extLst>
                    </a:gridCol>
                    <a:gridCol w="2113228">
                      <a:extLst>
                        <a:ext uri="{9D8B030D-6E8A-4147-A177-3AD203B41FA5}">
                          <a16:colId xmlns:a16="http://schemas.microsoft.com/office/drawing/2014/main" val="344280277"/>
                        </a:ext>
                      </a:extLst>
                    </a:gridCol>
                  </a:tblGrid>
                  <a:tr h="36017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 Method</a:t>
                          </a:r>
                          <a:endParaRPr lang="en-US" sz="2400" b="1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3"/>
                          <a:stretch>
                            <a:fillRect l="-120749" t="-25424" r="-576" b="-3305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0335158"/>
                      </a:ext>
                    </a:extLst>
                  </a:tr>
                  <a:tr h="5640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(HDR)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7.9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99645555"/>
                      </a:ext>
                    </a:extLst>
                  </a:tr>
                  <a:tr h="4959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(non-HDR)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12.7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772730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36" name="Picture 235">
            <a:extLst>
              <a:ext uri="{FF2B5EF4-FFF2-40B4-BE49-F238E27FC236}">
                <a16:creationId xmlns:a16="http://schemas.microsoft.com/office/drawing/2014/main" id="{C0BC344E-B283-A689-F148-1A71C9B5D5C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9014" y="30606754"/>
            <a:ext cx="7499079" cy="4263638"/>
          </a:xfrm>
          <a:prstGeom prst="rect">
            <a:avLst/>
          </a:prstGeom>
        </p:spPr>
      </p:pic>
      <p:sp>
        <p:nvSpPr>
          <p:cNvPr id="256" name="TextBox 255">
            <a:extLst>
              <a:ext uri="{FF2B5EF4-FFF2-40B4-BE49-F238E27FC236}">
                <a16:creationId xmlns:a16="http://schemas.microsoft.com/office/drawing/2014/main" id="{3301CF94-B18E-23E1-F7EC-C211F9060AFC}"/>
              </a:ext>
            </a:extLst>
          </p:cNvPr>
          <p:cNvSpPr txBox="1"/>
          <p:nvPr/>
        </p:nvSpPr>
        <p:spPr>
          <a:xfrm>
            <a:off x="14910560" y="29859272"/>
            <a:ext cx="6819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Sample results from different ML models enhanced HDR-FPP</a:t>
            </a:r>
          </a:p>
        </p:txBody>
      </p:sp>
      <p:pic>
        <p:nvPicPr>
          <p:cNvPr id="243" name="Picture 242" descr="Text&#10;&#10;Description automatically generated with low confidence">
            <a:extLst>
              <a:ext uri="{FF2B5EF4-FFF2-40B4-BE49-F238E27FC236}">
                <a16:creationId xmlns:a16="http://schemas.microsoft.com/office/drawing/2014/main" id="{25BC338C-DC4F-D48F-229A-EE034971324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6880" y="42611040"/>
            <a:ext cx="2432742" cy="992155"/>
          </a:xfrm>
          <a:prstGeom prst="rect">
            <a:avLst/>
          </a:prstGeom>
        </p:spPr>
      </p:pic>
      <p:pic>
        <p:nvPicPr>
          <p:cNvPr id="155" name="Picture 2" descr="&quot;&quot;">
            <a:extLst>
              <a:ext uri="{FF2B5EF4-FFF2-40B4-BE49-F238E27FC236}">
                <a16:creationId xmlns:a16="http://schemas.microsoft.com/office/drawing/2014/main" id="{693AC1FB-4CF6-DE3D-9BCD-15C7B532E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31" t="57238" b="3834"/>
          <a:stretch/>
        </p:blipFill>
        <p:spPr bwMode="auto">
          <a:xfrm>
            <a:off x="26972310" y="853822"/>
            <a:ext cx="5551191" cy="336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32" descr="https://www.zipam.pitt.edu/sites/default/files/zip-am_lab_lunch_group_photo_2022-05-06.jpg"/>
          <p:cNvPicPr>
            <a:picLocks noChangeAspect="1" noChangeArrowheads="1"/>
          </p:cNvPicPr>
          <p:nvPr/>
        </p:nvPicPr>
        <p:blipFill>
          <a:blip r:embed="rId4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9309" y="41645046"/>
            <a:ext cx="3522959" cy="189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16D6BF82-DA60-9E62-F830-F508A35EFCA4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133454" y="21046231"/>
            <a:ext cx="2658119" cy="2105751"/>
          </a:xfrm>
          <a:prstGeom prst="rect">
            <a:avLst/>
          </a:prstGeom>
        </p:spPr>
      </p:pic>
      <p:pic>
        <p:nvPicPr>
          <p:cNvPr id="35" name="Picture 3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5B033B63-3368-225E-456C-7EBD43B732D9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49" y="6808572"/>
            <a:ext cx="4594533" cy="4106513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3C9CA860-2AA8-508C-9C2E-0643929B848E}"/>
              </a:ext>
            </a:extLst>
          </p:cNvPr>
          <p:cNvSpPr/>
          <p:nvPr/>
        </p:nvSpPr>
        <p:spPr>
          <a:xfrm>
            <a:off x="14114171" y="10746812"/>
            <a:ext cx="5723168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Surface defects and corresponding topography measurements 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Fischer,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Birk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, et al. (2021)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DB9B405-179E-CA32-485D-CB0B14555225}"/>
              </a:ext>
            </a:extLst>
          </p:cNvPr>
          <p:cNvSpPr/>
          <p:nvPr/>
        </p:nvSpPr>
        <p:spPr>
          <a:xfrm>
            <a:off x="8813990" y="24002490"/>
            <a:ext cx="3637875" cy="3378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FPP measured Layer-wise print part surface topography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limited resolution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)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B683C34-F500-5F45-AFA4-2DD55543B1C2}"/>
              </a:ext>
            </a:extLst>
          </p:cNvPr>
          <p:cNvCxnSpPr>
            <a:cxnSpLocks/>
            <a:stCxn id="134" idx="3"/>
            <a:endCxn id="215" idx="1"/>
          </p:cNvCxnSpPr>
          <p:nvPr/>
        </p:nvCxnSpPr>
        <p:spPr>
          <a:xfrm>
            <a:off x="12451865" y="25691590"/>
            <a:ext cx="335825" cy="0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9B60FAA7-5994-D627-481B-817DA776B527}"/>
              </a:ext>
            </a:extLst>
          </p:cNvPr>
          <p:cNvCxnSpPr>
            <a:cxnSpLocks/>
            <a:stCxn id="134" idx="0"/>
          </p:cNvCxnSpPr>
          <p:nvPr/>
        </p:nvCxnSpPr>
        <p:spPr>
          <a:xfrm flipV="1">
            <a:off x="10632928" y="23358252"/>
            <a:ext cx="1124547" cy="644238"/>
          </a:xfrm>
          <a:prstGeom prst="straightConnector1">
            <a:avLst/>
          </a:prstGeom>
          <a:ln w="12700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E8C362BF-2648-FE33-7EAC-E25261031285}"/>
              </a:ext>
            </a:extLst>
          </p:cNvPr>
          <p:cNvSpPr/>
          <p:nvPr/>
        </p:nvSpPr>
        <p:spPr>
          <a:xfrm>
            <a:off x="15033277" y="20756834"/>
            <a:ext cx="3018222" cy="2535955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8D59D3A-F72D-6A63-B973-0ECC241DD0E5}"/>
              </a:ext>
            </a:extLst>
          </p:cNvPr>
          <p:cNvGrpSpPr/>
          <p:nvPr/>
        </p:nvGrpSpPr>
        <p:grpSpPr>
          <a:xfrm>
            <a:off x="18702881" y="20192817"/>
            <a:ext cx="13532652" cy="4377580"/>
            <a:chOff x="18702881" y="20192817"/>
            <a:chExt cx="13532652" cy="4377580"/>
          </a:xfrm>
        </p:grpSpPr>
        <p:sp>
          <p:nvSpPr>
            <p:cNvPr id="257" name="Rectangle: Rounded Corners 256">
              <a:extLst>
                <a:ext uri="{FF2B5EF4-FFF2-40B4-BE49-F238E27FC236}">
                  <a16:creationId xmlns:a16="http://schemas.microsoft.com/office/drawing/2014/main" id="{951D4EE7-DC47-A604-EAF0-2EF65DD6DAA3}"/>
                </a:ext>
              </a:extLst>
            </p:cNvPr>
            <p:cNvSpPr/>
            <p:nvPr/>
          </p:nvSpPr>
          <p:spPr>
            <a:xfrm>
              <a:off x="18702881" y="20192817"/>
              <a:ext cx="13485965" cy="437758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6FD7B31-B976-8A27-ECF0-D370A4D94DC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112959" y="21359606"/>
              <a:ext cx="13122574" cy="3184937"/>
              <a:chOff x="-801784" y="1240775"/>
              <a:chExt cx="10540422" cy="3271197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AEE79263-02CC-E8D2-A396-C23E4990DF47}"/>
                  </a:ext>
                </a:extLst>
              </p:cNvPr>
              <p:cNvGrpSpPr/>
              <p:nvPr/>
            </p:nvGrpSpPr>
            <p:grpSpPr>
              <a:xfrm>
                <a:off x="-801784" y="1240775"/>
                <a:ext cx="8406721" cy="3271197"/>
                <a:chOff x="-801784" y="1240775"/>
                <a:chExt cx="8406721" cy="3271197"/>
              </a:xfrm>
            </p:grpSpPr>
            <p:sp>
              <p:nvSpPr>
                <p:cNvPr id="145" name="Trapezoid 144">
                  <a:extLst>
                    <a:ext uri="{FF2B5EF4-FFF2-40B4-BE49-F238E27FC236}">
                      <a16:creationId xmlns:a16="http://schemas.microsoft.com/office/drawing/2014/main" id="{547C1131-2B92-E9E8-A647-44DE5F6C585C}"/>
                    </a:ext>
                  </a:extLst>
                </p:cNvPr>
                <p:cNvSpPr/>
                <p:nvPr/>
              </p:nvSpPr>
              <p:spPr>
                <a:xfrm rot="5400000">
                  <a:off x="2947462" y="1036514"/>
                  <a:ext cx="1267874" cy="1676400"/>
                </a:xfrm>
                <a:prstGeom prst="trapezoid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46" name="TextBox 8">
                  <a:extLst>
                    <a:ext uri="{FF2B5EF4-FFF2-40B4-BE49-F238E27FC236}">
                      <a16:creationId xmlns:a16="http://schemas.microsoft.com/office/drawing/2014/main" id="{4C880E35-4D19-0166-96DE-7648F0A5503B}"/>
                    </a:ext>
                  </a:extLst>
                </p:cNvPr>
                <p:cNvSpPr txBox="1"/>
                <p:nvPr/>
              </p:nvSpPr>
              <p:spPr>
                <a:xfrm>
                  <a:off x="2556389" y="1429085"/>
                  <a:ext cx="1905670" cy="10330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Resnet</a:t>
                  </a:r>
                  <a:r>
                    <a:rPr kumimoji="0" 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 101 Encoder</a:t>
                  </a:r>
                  <a:endParaRPr kumimoji="0" 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47" name="Trapezoid 146">
                  <a:extLst>
                    <a:ext uri="{FF2B5EF4-FFF2-40B4-BE49-F238E27FC236}">
                      <a16:creationId xmlns:a16="http://schemas.microsoft.com/office/drawing/2014/main" id="{FDAE2B0A-829C-2C02-76F0-9B29D4A3FA3B}"/>
                    </a:ext>
                  </a:extLst>
                </p:cNvPr>
                <p:cNvSpPr/>
                <p:nvPr/>
              </p:nvSpPr>
              <p:spPr>
                <a:xfrm rot="16200000">
                  <a:off x="5904362" y="1035086"/>
                  <a:ext cx="1265021" cy="1676400"/>
                </a:xfrm>
                <a:prstGeom prst="trapezoid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48" name="TextBox 11">
                  <a:extLst>
                    <a:ext uri="{FF2B5EF4-FFF2-40B4-BE49-F238E27FC236}">
                      <a16:creationId xmlns:a16="http://schemas.microsoft.com/office/drawing/2014/main" id="{A0101271-7C89-4D16-2FAB-42E85050F814}"/>
                    </a:ext>
                  </a:extLst>
                </p:cNvPr>
                <p:cNvSpPr txBox="1"/>
                <p:nvPr/>
              </p:nvSpPr>
              <p:spPr>
                <a:xfrm>
                  <a:off x="5700358" y="1429085"/>
                  <a:ext cx="1904579" cy="10330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Resnet</a:t>
                  </a:r>
                  <a:r>
                    <a:rPr kumimoji="0" 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 101 Decoder</a:t>
                  </a:r>
                  <a:endParaRPr kumimoji="0" 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cxnSp>
              <p:nvCxnSpPr>
                <p:cNvPr id="149" name="Straight Arrow Connector 148">
                  <a:extLst>
                    <a:ext uri="{FF2B5EF4-FFF2-40B4-BE49-F238E27FC236}">
                      <a16:creationId xmlns:a16="http://schemas.microsoft.com/office/drawing/2014/main" id="{D5D17C9C-E561-3D96-E493-ED825CC3816A}"/>
                    </a:ext>
                  </a:extLst>
                </p:cNvPr>
                <p:cNvCxnSpPr/>
                <p:nvPr/>
              </p:nvCxnSpPr>
              <p:spPr>
                <a:xfrm>
                  <a:off x="4419600" y="1796964"/>
                  <a:ext cx="1279074" cy="2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headEnd type="none"/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0" name="TextBox 14">
                  <a:extLst>
                    <a:ext uri="{FF2B5EF4-FFF2-40B4-BE49-F238E27FC236}">
                      <a16:creationId xmlns:a16="http://schemas.microsoft.com/office/drawing/2014/main" id="{B4768A9B-A77C-CA4E-72A6-2047C8B38877}"/>
                    </a:ext>
                  </a:extLst>
                </p:cNvPr>
                <p:cNvSpPr txBox="1"/>
                <p:nvPr/>
              </p:nvSpPr>
              <p:spPr>
                <a:xfrm>
                  <a:off x="3957720" y="2144050"/>
                  <a:ext cx="2248742" cy="999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Extracted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Feature vector 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51" name="TextBox 15">
                  <a:extLst>
                    <a:ext uri="{FF2B5EF4-FFF2-40B4-BE49-F238E27FC236}">
                      <a16:creationId xmlns:a16="http://schemas.microsoft.com/office/drawing/2014/main" id="{E738EE17-F519-7A72-B5EE-2C7B201F3403}"/>
                    </a:ext>
                  </a:extLst>
                </p:cNvPr>
                <p:cNvSpPr txBox="1"/>
                <p:nvPr/>
              </p:nvSpPr>
              <p:spPr>
                <a:xfrm>
                  <a:off x="-801784" y="1328453"/>
                  <a:ext cx="3422869" cy="9799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Input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: FPP measured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 surface topography 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152" name="TextBox 16">
                  <a:extLst>
                    <a:ext uri="{FF2B5EF4-FFF2-40B4-BE49-F238E27FC236}">
                      <a16:creationId xmlns:a16="http://schemas.microsoft.com/office/drawing/2014/main" id="{B829390F-F129-5EED-3539-74C9406F6E54}"/>
                    </a:ext>
                  </a:extLst>
                </p:cNvPr>
                <p:cNvSpPr txBox="1"/>
                <p:nvPr/>
              </p:nvSpPr>
              <p:spPr>
                <a:xfrm>
                  <a:off x="-743916" y="3512200"/>
                  <a:ext cx="5785317" cy="999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Training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anose="020B0604020202020204" pitchFamily="34" charset="0"/>
                      <a:ea typeface="Calibri" panose="020F0502020204030204" pitchFamily="34" charset="0"/>
                      <a:cs typeface="Helvetica" panose="020B0604020202020204" pitchFamily="34" charset="0"/>
                    </a:rPr>
                    <a:t>: ex-situ Keyence Profilometry measured surface topography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142" name="TextBox 27">
                <a:extLst>
                  <a:ext uri="{FF2B5EF4-FFF2-40B4-BE49-F238E27FC236}">
                    <a16:creationId xmlns:a16="http://schemas.microsoft.com/office/drawing/2014/main" id="{D6442F79-8313-F535-A9C0-9D1803AC5B2D}"/>
                  </a:ext>
                </a:extLst>
              </p:cNvPr>
              <p:cNvSpPr txBox="1"/>
              <p:nvPr/>
            </p:nvSpPr>
            <p:spPr>
              <a:xfrm>
                <a:off x="6649714" y="2770061"/>
                <a:ext cx="3088924" cy="146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Output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: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high-resolution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surface topography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84BD4E46-149A-D829-3079-10E3EDC02F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2786" y="1796964"/>
                <a:ext cx="513641" cy="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headEnd type="none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6AB04A8C-93E5-FC5E-0401-071557FBC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4327" y="1796964"/>
                <a:ext cx="711161" cy="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headEnd type="none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4" name="Picture 153" descr="A picture containing grass, outdoor, field&#10;&#10;Description automatically generated">
              <a:extLst>
                <a:ext uri="{FF2B5EF4-FFF2-40B4-BE49-F238E27FC236}">
                  <a16:creationId xmlns:a16="http://schemas.microsoft.com/office/drawing/2014/main" id="{EE2CF6EB-A213-6D28-8129-73D6756D1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42025" y="21346291"/>
              <a:ext cx="1216152" cy="1216152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443BFCA-D5DE-E70A-BA45-3F4536AC0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9932" y="22380231"/>
              <a:ext cx="1216152" cy="1216152"/>
            </a:xfrm>
            <a:prstGeom prst="rect">
              <a:avLst/>
            </a:prstGeom>
          </p:spPr>
        </p:pic>
        <p:pic>
          <p:nvPicPr>
            <p:cNvPr id="33" name="Picture 32" descr="A picture containing outdoor, sandy&#10;&#10;Description automatically generated">
              <a:extLst>
                <a:ext uri="{FF2B5EF4-FFF2-40B4-BE49-F238E27FC236}">
                  <a16:creationId xmlns:a16="http://schemas.microsoft.com/office/drawing/2014/main" id="{13384080-276B-7D80-5AE9-42440BD30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87350" y="20266334"/>
              <a:ext cx="1216152" cy="1216152"/>
            </a:xfrm>
            <a:prstGeom prst="rect">
              <a:avLst/>
            </a:prstGeom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5A410FE-5FC1-C71D-0860-413386AA80A2}"/>
                </a:ext>
              </a:extLst>
            </p:cNvPr>
            <p:cNvSpPr txBox="1"/>
            <p:nvPr/>
          </p:nvSpPr>
          <p:spPr>
            <a:xfrm>
              <a:off x="22965035" y="20321766"/>
              <a:ext cx="6215172" cy="5847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ML #1: Convolution-based Model </a:t>
              </a:r>
            </a:p>
          </p:txBody>
        </p:sp>
      </p:grpSp>
      <p:sp>
        <p:nvSpPr>
          <p:cNvPr id="201" name="TextBox 200">
            <a:extLst>
              <a:ext uri="{FF2B5EF4-FFF2-40B4-BE49-F238E27FC236}">
                <a16:creationId xmlns:a16="http://schemas.microsoft.com/office/drawing/2014/main" id="{6309F8DE-B2C4-60DA-35D0-5F702C5C375E}"/>
              </a:ext>
            </a:extLst>
          </p:cNvPr>
          <p:cNvSpPr txBox="1"/>
          <p:nvPr/>
        </p:nvSpPr>
        <p:spPr>
          <a:xfrm>
            <a:off x="22329236" y="26751828"/>
            <a:ext cx="5456455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ML #2: Denoising Diffusion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Probabilistic Model (DDPM)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A5BFE62-7344-F179-5DDA-2A7BBFBA4964}"/>
                  </a:ext>
                </a:extLst>
              </p:cNvPr>
              <p:cNvSpPr txBox="1"/>
              <p:nvPr/>
            </p:nvSpPr>
            <p:spPr>
              <a:xfrm>
                <a:off x="18895916" y="24806931"/>
                <a:ext cx="18799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~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𝑝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A5BFE62-7344-F179-5DDA-2A7BBFBA4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5916" y="24806931"/>
                <a:ext cx="1879982" cy="52322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TextBox 139">
            <a:extLst>
              <a:ext uri="{FF2B5EF4-FFF2-40B4-BE49-F238E27FC236}">
                <a16:creationId xmlns:a16="http://schemas.microsoft.com/office/drawing/2014/main" id="{54C1FBF2-1F56-48D2-897E-4DBEA6D48879}"/>
              </a:ext>
            </a:extLst>
          </p:cNvPr>
          <p:cNvSpPr txBox="1"/>
          <p:nvPr/>
        </p:nvSpPr>
        <p:spPr>
          <a:xfrm>
            <a:off x="14932108" y="35167417"/>
            <a:ext cx="6819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RMSE for line profile comparison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HDR FPP vs. non-HDR FPP</a:t>
            </a:r>
          </a:p>
        </p:txBody>
      </p:sp>
      <p:pic>
        <p:nvPicPr>
          <p:cNvPr id="153" name="Picture 152" descr="A close-up of a fence&#10;&#10;Description automatically generated with low confidence">
            <a:extLst>
              <a:ext uri="{FF2B5EF4-FFF2-40B4-BE49-F238E27FC236}">
                <a16:creationId xmlns:a16="http://schemas.microsoft.com/office/drawing/2014/main" id="{D83F145A-971E-1F9C-2FAA-4A83B8007A9C}"/>
              </a:ext>
            </a:extLst>
          </p:cNvPr>
          <p:cNvPicPr>
            <a:picLocks noChangeAspect="1"/>
          </p:cNvPicPr>
          <p:nvPr/>
        </p:nvPicPr>
        <p:blipFill>
          <a:blip r:embed="rId5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268" y="36533632"/>
            <a:ext cx="3474720" cy="3474720"/>
          </a:xfrm>
          <a:prstGeom prst="rect">
            <a:avLst/>
          </a:prstGeom>
        </p:spPr>
      </p:pic>
      <p:pic>
        <p:nvPicPr>
          <p:cNvPr id="3" name="Picture 2" descr="A picture containing outdoor, sandy&#10;&#10;Description automatically generated">
            <a:extLst>
              <a:ext uri="{FF2B5EF4-FFF2-40B4-BE49-F238E27FC236}">
                <a16:creationId xmlns:a16="http://schemas.microsoft.com/office/drawing/2014/main" id="{34423F61-3956-6696-9EA5-522552AE1F29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480" y="36551979"/>
            <a:ext cx="3474720" cy="34747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8C7E772-EB2C-C134-4699-048D300AA25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248" y="36551979"/>
            <a:ext cx="3474720" cy="3474720"/>
          </a:xfrm>
          <a:prstGeom prst="rect">
            <a:avLst/>
          </a:prstGeom>
        </p:spPr>
      </p:pic>
      <p:sp>
        <p:nvSpPr>
          <p:cNvPr id="156" name="Rectangle 155">
            <a:extLst>
              <a:ext uri="{FF2B5EF4-FFF2-40B4-BE49-F238E27FC236}">
                <a16:creationId xmlns:a16="http://schemas.microsoft.com/office/drawing/2014/main" id="{0DFEFD84-E3B4-0F3C-D72E-FAC07E64078B}"/>
              </a:ext>
            </a:extLst>
          </p:cNvPr>
          <p:cNvSpPr/>
          <p:nvPr/>
        </p:nvSpPr>
        <p:spPr>
          <a:xfrm>
            <a:off x="5361444" y="33015930"/>
            <a:ext cx="4951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Surface topography from FPP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3197553-BD99-DBF8-E58F-5A318A99747B}"/>
              </a:ext>
            </a:extLst>
          </p:cNvPr>
          <p:cNvSpPr/>
          <p:nvPr/>
        </p:nvSpPr>
        <p:spPr>
          <a:xfrm>
            <a:off x="9766836" y="33033790"/>
            <a:ext cx="52086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Surface topography from HDR-FPP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309749C-79F9-6193-639F-B6833336EFC3}"/>
              </a:ext>
            </a:extLst>
          </p:cNvPr>
          <p:cNvSpPr/>
          <p:nvPr/>
        </p:nvSpPr>
        <p:spPr>
          <a:xfrm>
            <a:off x="449277" y="40066584"/>
            <a:ext cx="4951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Surface topography from FPP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E78D549-4C7B-F113-D192-CF8245D41820}"/>
              </a:ext>
            </a:extLst>
          </p:cNvPr>
          <p:cNvSpPr/>
          <p:nvPr/>
        </p:nvSpPr>
        <p:spPr>
          <a:xfrm>
            <a:off x="4876887" y="40008352"/>
            <a:ext cx="5208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Surface topography from ML (DDPM) enhanced HDR-FPP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DC3D65BB-47AA-515D-1B7F-2AB6521D7FA9}"/>
              </a:ext>
            </a:extLst>
          </p:cNvPr>
          <p:cNvSpPr/>
          <p:nvPr/>
        </p:nvSpPr>
        <p:spPr>
          <a:xfrm>
            <a:off x="9523755" y="39990868"/>
            <a:ext cx="5208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Surface topography from ex-situ profilometry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AFC129DB-4C91-813E-1C9B-2A8E7D4124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06130" y="39004033"/>
              <a:ext cx="6478349" cy="167211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537519">
                      <a:extLst>
                        <a:ext uri="{9D8B030D-6E8A-4147-A177-3AD203B41FA5}">
                          <a16:colId xmlns:a16="http://schemas.microsoft.com/office/drawing/2014/main" val="2991760388"/>
                        </a:ext>
                      </a:extLst>
                    </a:gridCol>
                    <a:gridCol w="2940830">
                      <a:extLst>
                        <a:ext uri="{9D8B030D-6E8A-4147-A177-3AD203B41FA5}">
                          <a16:colId xmlns:a16="http://schemas.microsoft.com/office/drawing/2014/main" val="344280277"/>
                        </a:ext>
                      </a:extLst>
                    </a:gridCol>
                  </a:tblGrid>
                  <a:tr h="33978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 Method</a:t>
                          </a:r>
                          <a:endParaRPr lang="en-US" sz="2400" b="1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RMSE 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</a:rPr>
                                <m:t>𝛍</m:t>
                              </m:r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oMath>
                          </a14:m>
                          <a:r>
                            <a:rPr lang="en-US" sz="2400" b="1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)</a:t>
                          </a:r>
                          <a:endParaRPr lang="en-US" sz="2400" b="1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335158"/>
                      </a:ext>
                    </a:extLst>
                  </a:tr>
                  <a:tr h="5640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(HDR)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ea typeface="Calibri" panose="020F0502020204030204" pitchFamily="34" charset="0"/>
                              <a:cs typeface="Helvetica" panose="020B0604020202020204" pitchFamily="34" charset="0"/>
                            </a:rPr>
                            <a:t>7.6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99645555"/>
                      </a:ext>
                    </a:extLst>
                  </a:tr>
                  <a:tr h="4959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(DDPM enhanced HDR model)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4.2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7727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AFC129DB-4C91-813E-1C9B-2A8E7D4124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06130" y="39004033"/>
              <a:ext cx="6478349" cy="167211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537519">
                      <a:extLst>
                        <a:ext uri="{9D8B030D-6E8A-4147-A177-3AD203B41FA5}">
                          <a16:colId xmlns:a16="http://schemas.microsoft.com/office/drawing/2014/main" val="2991760388"/>
                        </a:ext>
                      </a:extLst>
                    </a:gridCol>
                    <a:gridCol w="2940830">
                      <a:extLst>
                        <a:ext uri="{9D8B030D-6E8A-4147-A177-3AD203B41FA5}">
                          <a16:colId xmlns:a16="http://schemas.microsoft.com/office/drawing/2014/main" val="344280277"/>
                        </a:ext>
                      </a:extLst>
                    </a:gridCol>
                  </a:tblGrid>
                  <a:tr h="36017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 Method</a:t>
                          </a:r>
                          <a:endParaRPr lang="en-US" sz="2400" b="1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9"/>
                          <a:stretch>
                            <a:fillRect l="-120497" t="-25424" r="-414" b="-416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0335158"/>
                      </a:ext>
                    </a:extLst>
                  </a:tr>
                  <a:tr h="5640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(HDR)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ea typeface="Calibri" panose="020F0502020204030204" pitchFamily="34" charset="0"/>
                              <a:cs typeface="Helvetica" panose="020B0604020202020204" pitchFamily="34" charset="0"/>
                            </a:rPr>
                            <a:t>7.6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99645555"/>
                      </a:ext>
                    </a:extLst>
                  </a:tr>
                  <a:tr h="7479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FPP (DDPM enhanced HDR model)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4.2</a:t>
                          </a:r>
                          <a:endParaRPr lang="en-US" sz="2400" dirty="0">
                            <a:effectLst/>
                            <a:latin typeface="Helvetica" panose="020B0604020202020204" pitchFamily="34" charset="0"/>
                            <a:ea typeface="Calibri" panose="020F050202020403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772730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BC40A2-4B33-3194-497F-B5B6A2D67A7B}"/>
              </a:ext>
            </a:extLst>
          </p:cNvPr>
          <p:cNvCxnSpPr>
            <a:cxnSpLocks/>
            <a:stCxn id="228" idx="3"/>
          </p:cNvCxnSpPr>
          <p:nvPr/>
        </p:nvCxnSpPr>
        <p:spPr>
          <a:xfrm>
            <a:off x="14325940" y="34789774"/>
            <a:ext cx="649369" cy="2556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CA1650C3-03A4-63EE-B381-384F44DF89BA}"/>
              </a:ext>
            </a:extLst>
          </p:cNvPr>
          <p:cNvSpPr/>
          <p:nvPr/>
        </p:nvSpPr>
        <p:spPr>
          <a:xfrm>
            <a:off x="14803538" y="34992359"/>
            <a:ext cx="7106461" cy="2622744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ECB1E65D-44AE-1BAE-A396-E4382FF6E7A6}"/>
              </a:ext>
            </a:extLst>
          </p:cNvPr>
          <p:cNvCxnSpPr>
            <a:cxnSpLocks/>
          </p:cNvCxnSpPr>
          <p:nvPr/>
        </p:nvCxnSpPr>
        <p:spPr>
          <a:xfrm>
            <a:off x="14575965" y="38531047"/>
            <a:ext cx="378227" cy="1564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83614536-B639-B296-2FF0-6D01B3521BED}"/>
              </a:ext>
            </a:extLst>
          </p:cNvPr>
          <p:cNvSpPr/>
          <p:nvPr/>
        </p:nvSpPr>
        <p:spPr>
          <a:xfrm>
            <a:off x="14947534" y="37801106"/>
            <a:ext cx="7106461" cy="3078128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C377792-7ED2-B24C-FD4B-5158175E7C5F}"/>
              </a:ext>
            </a:extLst>
          </p:cNvPr>
          <p:cNvSpPr txBox="1"/>
          <p:nvPr/>
        </p:nvSpPr>
        <p:spPr>
          <a:xfrm>
            <a:off x="14947534" y="37802611"/>
            <a:ext cx="6988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RMSE for surface topography comparison HDR FPP vs.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ML (DDPM) enhanced HDR-FPP 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04808A12-9106-32B0-85FF-03EDCCC4242D}"/>
              </a:ext>
            </a:extLst>
          </p:cNvPr>
          <p:cNvSpPr/>
          <p:nvPr/>
        </p:nvSpPr>
        <p:spPr>
          <a:xfrm>
            <a:off x="627233" y="36389247"/>
            <a:ext cx="13836610" cy="4564023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5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651</Words>
  <Application>Microsoft Office PowerPoint</Application>
  <PresentationFormat>Custom</PresentationFormat>
  <Paragraphs>94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Helvetica</vt:lpstr>
      <vt:lpstr>Office Theme</vt:lpstr>
      <vt:lpstr>Equation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Zhang, Haolin</dc:creator>
  <cp:lastModifiedBy>Vallabh, Chaitanya Krishna P</cp:lastModifiedBy>
  <cp:revision>40</cp:revision>
  <dcterms:created xsi:type="dcterms:W3CDTF">2022-07-05T20:28:41Z</dcterms:created>
  <dcterms:modified xsi:type="dcterms:W3CDTF">2022-07-21T14:16:18Z</dcterms:modified>
</cp:coreProperties>
</file>